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966960" y="-1097280"/>
            <a:ext cx="3840480" cy="3840480"/>
          </a:xfrm>
          <a:prstGeom prst="ellipse">
            <a:avLst/>
          </a:prstGeom>
          <a:solidFill>
            <a:srgbClr val="27317A"/>
          </a:solidFill>
          <a:ln/>
        </p:spPr>
      </p:sp>
      <p:sp>
        <p:nvSpPr>
          <p:cNvPr id="3" name="Shape 1"/>
          <p:cNvSpPr/>
          <p:nvPr/>
        </p:nvSpPr>
        <p:spPr>
          <a:xfrm>
            <a:off x="11247120" y="4206240"/>
            <a:ext cx="2377440" cy="2377440"/>
          </a:xfrm>
          <a:prstGeom prst="ellipse">
            <a:avLst/>
          </a:prstGeom>
          <a:solidFill>
            <a:srgbClr val="27317A"/>
          </a:solidFill>
          <a:ln/>
        </p:spPr>
      </p:sp>
      <p:sp>
        <p:nvSpPr>
          <p:cNvPr id="4" name="Shape 2"/>
          <p:cNvSpPr/>
          <p:nvPr/>
        </p:nvSpPr>
        <p:spPr>
          <a:xfrm>
            <a:off x="-1097280" y="5120640"/>
            <a:ext cx="3291840" cy="3291840"/>
          </a:xfrm>
          <a:prstGeom prst="ellipse">
            <a:avLst/>
          </a:prstGeom>
          <a:solidFill>
            <a:srgbClr val="27317A"/>
          </a:solidFill>
          <a:ln/>
        </p:spPr>
      </p:sp>
      <p:sp>
        <p:nvSpPr>
          <p:cNvPr id="5" name="Text 3"/>
          <p:cNvSpPr txBox="1"/>
          <p:nvPr/>
        </p:nvSpPr>
        <p:spPr>
          <a:xfrm>
            <a:off x="731520" y="1737360"/>
            <a:ext cx="8229600" cy="365760"/>
          </a:xfrm>
          <a:prstGeom prst="rect">
            <a:avLst/>
          </a:prstGeom>
          <a:noFill/>
          <a:ln/>
        </p:spPr>
        <p:txBody>
          <a:bodyPr wrap="square" lIns="0" tIns="0" rIns="0" bIns="0" rtlCol="0" anchor="ctr"/>
          <a:lstStyle/>
          <a:p>
            <a:pPr indent="0" marL="0">
              <a:buNone/>
            </a:pPr>
            <a:r>
              <a:rPr lang="en-US" sz="1300" b="1" spc="200" kern="0" dirty="0">
                <a:solidFill>
                  <a:srgbClr val="F9A826"/>
                </a:solidFill>
                <a:latin typeface="Calibri" pitchFamily="34" charset="0"/>
                <a:ea typeface="Calibri" pitchFamily="34" charset="-122"/>
                <a:cs typeface="Calibri" pitchFamily="34" charset="-120"/>
              </a:rPr>
              <a:t>DATABASE MANAGEMENT SYSTEM PROJECT</a:t>
            </a:r>
            <a:endParaRPr lang="en-US" sz="1300" dirty="0"/>
          </a:p>
        </p:txBody>
      </p:sp>
      <p:sp>
        <p:nvSpPr>
          <p:cNvPr id="6" name="Text 4"/>
          <p:cNvSpPr txBox="1"/>
          <p:nvPr/>
        </p:nvSpPr>
        <p:spPr>
          <a:xfrm>
            <a:off x="731520" y="2148840"/>
            <a:ext cx="9875520" cy="192024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Design and Implementation of a Residential Society</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Resident &amp; Maintenance Billing System</a:t>
            </a:r>
            <a:endParaRPr lang="en-US" sz="3400" dirty="0"/>
          </a:p>
        </p:txBody>
      </p:sp>
      <p:sp>
        <p:nvSpPr>
          <p:cNvPr id="7" name="Text 5"/>
          <p:cNvSpPr txBox="1"/>
          <p:nvPr/>
        </p:nvSpPr>
        <p:spPr>
          <a:xfrm>
            <a:off x="731520" y="4160520"/>
            <a:ext cx="8686800" cy="64008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relational database solution for managing residents, flats, maintenance billing, payments, and complaints</a:t>
            </a:r>
            <a:endParaRPr lang="en-US" sz="1500" dirty="0"/>
          </a:p>
        </p:txBody>
      </p:sp>
      <p:sp>
        <p:nvSpPr>
          <p:cNvPr id="8" name="Shape 6"/>
          <p:cNvSpPr/>
          <p:nvPr/>
        </p:nvSpPr>
        <p:spPr>
          <a:xfrm>
            <a:off x="731520" y="4983480"/>
            <a:ext cx="1280160" cy="0"/>
          </a:xfrm>
          <a:prstGeom prst="line">
            <a:avLst/>
          </a:prstGeom>
          <a:noFill/>
          <a:ln w="38100">
            <a:solidFill>
              <a:srgbClr val="F9A826"/>
            </a:solidFill>
            <a:prstDash val="solid"/>
          </a:ln>
        </p:spPr>
      </p:sp>
      <p:sp>
        <p:nvSpPr>
          <p:cNvPr id="9" name="Text 7"/>
          <p:cNvSpPr txBox="1"/>
          <p:nvPr/>
        </p:nvSpPr>
        <p:spPr>
          <a:xfrm>
            <a:off x="731520" y="6126480"/>
            <a:ext cx="7315200" cy="365760"/>
          </a:xfrm>
          <a:prstGeom prst="rect">
            <a:avLst/>
          </a:prstGeom>
          <a:noFill/>
          <a:ln/>
        </p:spPr>
        <p:txBody>
          <a:bodyPr wrap="square" lIns="0" tIns="0" rIns="0" bIns="0" rtlCol="0" anchor="ctr"/>
          <a:lstStyle/>
          <a:p>
            <a:pPr indent="0" marL="0">
              <a:buNone/>
            </a:pPr>
            <a:r>
              <a:rPr lang="en-US" sz="1200" dirty="0">
                <a:solidFill>
                  <a:srgbClr val="9FB0E0"/>
                </a:solidFill>
                <a:latin typeface="Calibri" pitchFamily="34" charset="0"/>
                <a:ea typeface="Calibri" pitchFamily="34" charset="-122"/>
                <a:cs typeface="Calibri" pitchFamily="34" charset="-120"/>
              </a:rPr>
              <a:t>DBMS Mini Project  |  Academic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Introduction &amp; Objectives</a:t>
            </a:r>
            <a:endParaRPr lang="en-US" sz="3000" dirty="0"/>
          </a:p>
        </p:txBody>
      </p:sp>
      <p:sp>
        <p:nvSpPr>
          <p:cNvPr id="3" name="Text 1"/>
          <p:cNvSpPr txBox="1"/>
          <p:nvPr/>
        </p:nvSpPr>
        <p:spPr>
          <a:xfrm>
            <a:off x="548640" y="960120"/>
            <a:ext cx="9144000" cy="365760"/>
          </a:xfrm>
          <a:prstGeom prst="rect">
            <a:avLst/>
          </a:prstGeom>
          <a:noFill/>
          <a:ln/>
        </p:spPr>
        <p:txBody>
          <a:bodyPr wrap="square" lIns="0" tIns="0" rIns="0" bIns="0" rtlCol="0" anchor="ctr"/>
          <a:lstStyle/>
          <a:p>
            <a:pPr indent="0" marL="0">
              <a:buNone/>
            </a:pPr>
            <a:r>
              <a:rPr lang="en-US" sz="1400" i="1" dirty="0">
                <a:solidFill>
                  <a:srgbClr val="5C6B9E"/>
                </a:solidFill>
                <a:latin typeface="Calibri" pitchFamily="34" charset="0"/>
                <a:ea typeface="Calibri" pitchFamily="34" charset="-122"/>
                <a:cs typeface="Calibri" pitchFamily="34" charset="-120"/>
              </a:rPr>
              <a:t>Why residential societies need a dedicated DBMS</a:t>
            </a:r>
            <a:endParaRPr lang="en-US" sz="1400" dirty="0"/>
          </a:p>
        </p:txBody>
      </p:sp>
      <p:sp>
        <p:nvSpPr>
          <p:cNvPr id="4" name="Shape 2"/>
          <p:cNvSpPr/>
          <p:nvPr/>
        </p:nvSpPr>
        <p:spPr>
          <a:xfrm>
            <a:off x="548640" y="1554480"/>
            <a:ext cx="5212080" cy="4480560"/>
          </a:xfrm>
          <a:prstGeom prst="roundRect">
            <a:avLst>
              <a:gd name="adj" fmla="val 1633"/>
            </a:avLst>
          </a:prstGeom>
          <a:solidFill>
            <a:srgbClr val="F4F6FC"/>
          </a:solidFill>
          <a:ln/>
        </p:spPr>
      </p:sp>
      <p:sp>
        <p:nvSpPr>
          <p:cNvPr id="5" name="Text 3"/>
          <p:cNvSpPr txBox="1"/>
          <p:nvPr/>
        </p:nvSpPr>
        <p:spPr>
          <a:xfrm>
            <a:off x="868680" y="1783080"/>
            <a:ext cx="45720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Problem Statement</a:t>
            </a:r>
            <a:endParaRPr lang="en-US" sz="1700" dirty="0"/>
          </a:p>
        </p:txBody>
      </p:sp>
      <p:sp>
        <p:nvSpPr>
          <p:cNvPr id="6" name="Text 4"/>
          <p:cNvSpPr txBox="1"/>
          <p:nvPr/>
        </p:nvSpPr>
        <p:spPr>
          <a:xfrm>
            <a:off x="868680" y="2240280"/>
            <a:ext cx="4572000" cy="3566160"/>
          </a:xfrm>
          <a:prstGeom prst="rect">
            <a:avLst/>
          </a:prstGeom>
          <a:noFill/>
          <a:ln/>
        </p:spPr>
        <p:txBody>
          <a:bodyPr wrap="square" lIns="0" tIns="0" rIns="0" bIns="0" rtlCol="0" anchor="ctr"/>
          <a:lstStyle/>
          <a:p>
            <a:pPr indent="0" marL="0">
              <a:lnSpc>
                <a:spcPct val="130000"/>
              </a:lnSpc>
              <a:buNone/>
            </a:pPr>
            <a:r>
              <a:rPr lang="en-US" sz="1350" dirty="0">
                <a:solidFill>
                  <a:srgbClr val="1E2761"/>
                </a:solidFill>
                <a:latin typeface="Calibri" pitchFamily="34" charset="0"/>
                <a:ea typeface="Calibri" pitchFamily="34" charset="-122"/>
                <a:cs typeface="Calibri" pitchFamily="34" charset="-120"/>
              </a:rPr>
              <a:t>Residential societies still track resident details, maintenance dues, and payments using registers or scattered spreadsheets. This leads to billing errors, delayed collections, poor complaint tracking, and no single source of truth for society administrators.</a:t>
            </a:r>
            <a:endParaRPr lang="en-US" sz="1350" dirty="0"/>
          </a:p>
        </p:txBody>
      </p:sp>
      <p:sp>
        <p:nvSpPr>
          <p:cNvPr id="7" name="Shape 5"/>
          <p:cNvSpPr/>
          <p:nvPr/>
        </p:nvSpPr>
        <p:spPr>
          <a:xfrm>
            <a:off x="6126480" y="1572768"/>
            <a:ext cx="384048" cy="384048"/>
          </a:xfrm>
          <a:prstGeom prst="ellipse">
            <a:avLst/>
          </a:prstGeom>
          <a:solidFill>
            <a:srgbClr val="F9A826"/>
          </a:solidFill>
          <a:ln/>
        </p:spPr>
      </p:sp>
      <p:sp>
        <p:nvSpPr>
          <p:cNvPr id="8" name="Text 6"/>
          <p:cNvSpPr txBox="1"/>
          <p:nvPr/>
        </p:nvSpPr>
        <p:spPr>
          <a:xfrm>
            <a:off x="6126480" y="15727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6720840" y="1508760"/>
            <a:ext cx="47548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Centralize Data</a:t>
            </a:r>
            <a:endParaRPr lang="en-US" sz="1500" dirty="0"/>
          </a:p>
        </p:txBody>
      </p:sp>
      <p:sp>
        <p:nvSpPr>
          <p:cNvPr id="10" name="Text 8"/>
          <p:cNvSpPr txBox="1"/>
          <p:nvPr/>
        </p:nvSpPr>
        <p:spPr>
          <a:xfrm>
            <a:off x="6720840" y="1847088"/>
            <a:ext cx="4754880" cy="548640"/>
          </a:xfrm>
          <a:prstGeom prst="rect">
            <a:avLst/>
          </a:prstGeom>
          <a:noFill/>
          <a:ln/>
        </p:spPr>
        <p:txBody>
          <a:bodyPr wrap="square" lIns="0" tIns="0" rIns="0" bIns="0" rtlCol="0" anchor="ctr"/>
          <a:lstStyle/>
          <a:p>
            <a:pPr indent="0" marL="0">
              <a:buNone/>
            </a:pPr>
            <a:r>
              <a:rPr lang="en-US" sz="1250" dirty="0">
                <a:solidFill>
                  <a:srgbClr val="5C6B9E"/>
                </a:solidFill>
                <a:latin typeface="Calibri" pitchFamily="34" charset="0"/>
                <a:ea typeface="Calibri" pitchFamily="34" charset="-122"/>
                <a:cs typeface="Calibri" pitchFamily="34" charset="-120"/>
              </a:rPr>
              <a:t>Store resident, flat, and billing records in one relational database</a:t>
            </a:r>
            <a:endParaRPr lang="en-US" sz="1250" dirty="0"/>
          </a:p>
        </p:txBody>
      </p:sp>
      <p:sp>
        <p:nvSpPr>
          <p:cNvPr id="11" name="Shape 9"/>
          <p:cNvSpPr/>
          <p:nvPr/>
        </p:nvSpPr>
        <p:spPr>
          <a:xfrm>
            <a:off x="6126480" y="2624328"/>
            <a:ext cx="384048" cy="384048"/>
          </a:xfrm>
          <a:prstGeom prst="ellipse">
            <a:avLst/>
          </a:prstGeom>
          <a:solidFill>
            <a:srgbClr val="F9A826"/>
          </a:solidFill>
          <a:ln/>
        </p:spPr>
      </p:sp>
      <p:sp>
        <p:nvSpPr>
          <p:cNvPr id="12" name="Text 10"/>
          <p:cNvSpPr txBox="1"/>
          <p:nvPr/>
        </p:nvSpPr>
        <p:spPr>
          <a:xfrm>
            <a:off x="6126480" y="26243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6720840" y="2560320"/>
            <a:ext cx="47548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Automate Billing</a:t>
            </a:r>
            <a:endParaRPr lang="en-US" sz="1500" dirty="0"/>
          </a:p>
        </p:txBody>
      </p:sp>
      <p:sp>
        <p:nvSpPr>
          <p:cNvPr id="14" name="Text 12"/>
          <p:cNvSpPr txBox="1"/>
          <p:nvPr/>
        </p:nvSpPr>
        <p:spPr>
          <a:xfrm>
            <a:off x="6720840" y="2898648"/>
            <a:ext cx="4754880" cy="548640"/>
          </a:xfrm>
          <a:prstGeom prst="rect">
            <a:avLst/>
          </a:prstGeom>
          <a:noFill/>
          <a:ln/>
        </p:spPr>
        <p:txBody>
          <a:bodyPr wrap="square" lIns="0" tIns="0" rIns="0" bIns="0" rtlCol="0" anchor="ctr"/>
          <a:lstStyle/>
          <a:p>
            <a:pPr indent="0" marL="0">
              <a:buNone/>
            </a:pPr>
            <a:r>
              <a:rPr lang="en-US" sz="1250" dirty="0">
                <a:solidFill>
                  <a:srgbClr val="5C6B9E"/>
                </a:solidFill>
                <a:latin typeface="Calibri" pitchFamily="34" charset="0"/>
                <a:ea typeface="Calibri" pitchFamily="34" charset="-122"/>
                <a:cs typeface="Calibri" pitchFamily="34" charset="-120"/>
              </a:rPr>
              <a:t>Generate monthly maintenance invoices and track dues automatically</a:t>
            </a:r>
            <a:endParaRPr lang="en-US" sz="1250" dirty="0"/>
          </a:p>
        </p:txBody>
      </p:sp>
      <p:sp>
        <p:nvSpPr>
          <p:cNvPr id="15" name="Shape 13"/>
          <p:cNvSpPr/>
          <p:nvPr/>
        </p:nvSpPr>
        <p:spPr>
          <a:xfrm>
            <a:off x="6126480" y="3675888"/>
            <a:ext cx="384048" cy="384048"/>
          </a:xfrm>
          <a:prstGeom prst="ellipse">
            <a:avLst/>
          </a:prstGeom>
          <a:solidFill>
            <a:srgbClr val="F9A826"/>
          </a:solidFill>
          <a:ln/>
        </p:spPr>
      </p:sp>
      <p:sp>
        <p:nvSpPr>
          <p:cNvPr id="16" name="Text 14"/>
          <p:cNvSpPr txBox="1"/>
          <p:nvPr/>
        </p:nvSpPr>
        <p:spPr>
          <a:xfrm>
            <a:off x="6126480" y="36758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6720840" y="3611880"/>
            <a:ext cx="47548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Track Payments</a:t>
            </a:r>
            <a:endParaRPr lang="en-US" sz="1500" dirty="0"/>
          </a:p>
        </p:txBody>
      </p:sp>
      <p:sp>
        <p:nvSpPr>
          <p:cNvPr id="18" name="Text 16"/>
          <p:cNvSpPr txBox="1"/>
          <p:nvPr/>
        </p:nvSpPr>
        <p:spPr>
          <a:xfrm>
            <a:off x="6720840" y="3950208"/>
            <a:ext cx="4754880" cy="548640"/>
          </a:xfrm>
          <a:prstGeom prst="rect">
            <a:avLst/>
          </a:prstGeom>
          <a:noFill/>
          <a:ln/>
        </p:spPr>
        <p:txBody>
          <a:bodyPr wrap="square" lIns="0" tIns="0" rIns="0" bIns="0" rtlCol="0" anchor="ctr"/>
          <a:lstStyle/>
          <a:p>
            <a:pPr indent="0" marL="0">
              <a:buNone/>
            </a:pPr>
            <a:r>
              <a:rPr lang="en-US" sz="1250" dirty="0">
                <a:solidFill>
                  <a:srgbClr val="5C6B9E"/>
                </a:solidFill>
                <a:latin typeface="Calibri" pitchFamily="34" charset="0"/>
                <a:ea typeface="Calibri" pitchFamily="34" charset="-122"/>
                <a:cs typeface="Calibri" pitchFamily="34" charset="-120"/>
              </a:rPr>
              <a:t>Record payment history and outstanding balances per flat</a:t>
            </a:r>
            <a:endParaRPr lang="en-US" sz="1250" dirty="0"/>
          </a:p>
        </p:txBody>
      </p:sp>
      <p:sp>
        <p:nvSpPr>
          <p:cNvPr id="19" name="Shape 17"/>
          <p:cNvSpPr/>
          <p:nvPr/>
        </p:nvSpPr>
        <p:spPr>
          <a:xfrm>
            <a:off x="6126480" y="4727448"/>
            <a:ext cx="384048" cy="384048"/>
          </a:xfrm>
          <a:prstGeom prst="ellipse">
            <a:avLst/>
          </a:prstGeom>
          <a:solidFill>
            <a:srgbClr val="F9A826"/>
          </a:solidFill>
          <a:ln/>
        </p:spPr>
      </p:sp>
      <p:sp>
        <p:nvSpPr>
          <p:cNvPr id="20" name="Text 18"/>
          <p:cNvSpPr txBox="1"/>
          <p:nvPr/>
        </p:nvSpPr>
        <p:spPr>
          <a:xfrm>
            <a:off x="6126480" y="4727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6720840" y="4663440"/>
            <a:ext cx="47548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Manage Complaints</a:t>
            </a:r>
            <a:endParaRPr lang="en-US" sz="1500" dirty="0"/>
          </a:p>
        </p:txBody>
      </p:sp>
      <p:sp>
        <p:nvSpPr>
          <p:cNvPr id="22" name="Text 20"/>
          <p:cNvSpPr txBox="1"/>
          <p:nvPr/>
        </p:nvSpPr>
        <p:spPr>
          <a:xfrm>
            <a:off x="6720840" y="5001768"/>
            <a:ext cx="4754880" cy="548640"/>
          </a:xfrm>
          <a:prstGeom prst="rect">
            <a:avLst/>
          </a:prstGeom>
          <a:noFill/>
          <a:ln/>
        </p:spPr>
        <p:txBody>
          <a:bodyPr wrap="square" lIns="0" tIns="0" rIns="0" bIns="0" rtlCol="0" anchor="ctr"/>
          <a:lstStyle/>
          <a:p>
            <a:pPr indent="0" marL="0">
              <a:buNone/>
            </a:pPr>
            <a:r>
              <a:rPr lang="en-US" sz="1250" dirty="0">
                <a:solidFill>
                  <a:srgbClr val="5C6B9E"/>
                </a:solidFill>
                <a:latin typeface="Calibri" pitchFamily="34" charset="0"/>
                <a:ea typeface="Calibri" pitchFamily="34" charset="-122"/>
                <a:cs typeface="Calibri" pitchFamily="34" charset="-120"/>
              </a:rPr>
              <a:t>Log and monitor resident complaints to resolution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Database Design</a:t>
            </a:r>
            <a:endParaRPr lang="en-US" sz="3000" dirty="0"/>
          </a:p>
        </p:txBody>
      </p:sp>
      <p:sp>
        <p:nvSpPr>
          <p:cNvPr id="3" name="Text 1"/>
          <p:cNvSpPr txBox="1"/>
          <p:nvPr/>
        </p:nvSpPr>
        <p:spPr>
          <a:xfrm>
            <a:off x="548640" y="960120"/>
            <a:ext cx="9144000" cy="365760"/>
          </a:xfrm>
          <a:prstGeom prst="rect">
            <a:avLst/>
          </a:prstGeom>
          <a:noFill/>
          <a:ln/>
        </p:spPr>
        <p:txBody>
          <a:bodyPr wrap="square" lIns="0" tIns="0" rIns="0" bIns="0" rtlCol="0" anchor="ctr"/>
          <a:lstStyle/>
          <a:p>
            <a:pPr indent="0" marL="0">
              <a:buNone/>
            </a:pPr>
            <a:r>
              <a:rPr lang="en-US" sz="1400" i="1" dirty="0">
                <a:solidFill>
                  <a:srgbClr val="5C6B9E"/>
                </a:solidFill>
                <a:latin typeface="Calibri" pitchFamily="34" charset="0"/>
                <a:ea typeface="Calibri" pitchFamily="34" charset="-122"/>
                <a:cs typeface="Calibri" pitchFamily="34" charset="-120"/>
              </a:rPr>
              <a:t>Core entities and their relationships</a:t>
            </a:r>
            <a:endParaRPr lang="en-US" sz="1400" dirty="0"/>
          </a:p>
        </p:txBody>
      </p:sp>
      <p:sp>
        <p:nvSpPr>
          <p:cNvPr id="4" name="Shape 2"/>
          <p:cNvSpPr/>
          <p:nvPr/>
        </p:nvSpPr>
        <p:spPr>
          <a:xfrm>
            <a:off x="548640" y="1691640"/>
            <a:ext cx="2103120" cy="2331720"/>
          </a:xfrm>
          <a:prstGeom prst="roundRect">
            <a:avLst>
              <a:gd name="adj" fmla="val 2609"/>
            </a:avLst>
          </a:prstGeom>
          <a:solidFill>
            <a:srgbClr val="1E2761"/>
          </a:solidFill>
          <a:ln/>
        </p:spPr>
      </p:sp>
      <p:sp>
        <p:nvSpPr>
          <p:cNvPr id="5" name="Shape 3"/>
          <p:cNvSpPr/>
          <p:nvPr/>
        </p:nvSpPr>
        <p:spPr>
          <a:xfrm>
            <a:off x="548640" y="1691640"/>
            <a:ext cx="2103120" cy="457200"/>
          </a:xfrm>
          <a:prstGeom prst="rect">
            <a:avLst/>
          </a:prstGeom>
          <a:solidFill>
            <a:srgbClr val="1E2761"/>
          </a:solidFill>
          <a:ln/>
        </p:spPr>
      </p:sp>
      <p:sp>
        <p:nvSpPr>
          <p:cNvPr id="6" name="Text 4"/>
          <p:cNvSpPr txBox="1"/>
          <p:nvPr/>
        </p:nvSpPr>
        <p:spPr>
          <a:xfrm>
            <a:off x="640080" y="1801368"/>
            <a:ext cx="1920240" cy="320040"/>
          </a:xfrm>
          <a:prstGeom prst="rect">
            <a:avLst/>
          </a:prstGeom>
          <a:noFill/>
          <a:ln/>
        </p:spPr>
        <p:txBody>
          <a:bodyPr wrap="square" lIns="0" tIns="0" rIns="0" bIns="0" rtlCol="0" anchor="ctr"/>
          <a:lstStyle/>
          <a:p>
            <a:pPr algn="ctr" indent="0" marL="0">
              <a:buNone/>
            </a:pPr>
            <a:r>
              <a:rPr lang="en-US" sz="1200" b="1" dirty="0">
                <a:solidFill>
                  <a:srgbClr val="F9A826"/>
                </a:solidFill>
                <a:latin typeface="Calibri" pitchFamily="34" charset="0"/>
                <a:ea typeface="Calibri" pitchFamily="34" charset="-122"/>
                <a:cs typeface="Calibri" pitchFamily="34" charset="-120"/>
              </a:rPr>
              <a:t>RESIDENT</a:t>
            </a:r>
            <a:endParaRPr lang="en-US" sz="1200" dirty="0"/>
          </a:p>
        </p:txBody>
      </p:sp>
      <p:sp>
        <p:nvSpPr>
          <p:cNvPr id="7" name="Shape 5"/>
          <p:cNvSpPr/>
          <p:nvPr/>
        </p:nvSpPr>
        <p:spPr>
          <a:xfrm>
            <a:off x="685800" y="2194560"/>
            <a:ext cx="1828800" cy="0"/>
          </a:xfrm>
          <a:prstGeom prst="line">
            <a:avLst/>
          </a:prstGeom>
          <a:noFill/>
          <a:ln w="12700">
            <a:solidFill>
              <a:srgbClr val="3A468F"/>
            </a:solidFill>
            <a:prstDash val="solid"/>
          </a:ln>
        </p:spPr>
      </p:sp>
      <p:sp>
        <p:nvSpPr>
          <p:cNvPr id="8" name="Text 6"/>
          <p:cNvSpPr txBox="1"/>
          <p:nvPr/>
        </p:nvSpPr>
        <p:spPr>
          <a:xfrm>
            <a:off x="685800" y="2313432"/>
            <a:ext cx="1828800" cy="1600200"/>
          </a:xfrm>
          <a:prstGeom prst="rect">
            <a:avLst/>
          </a:prstGeom>
          <a:noFill/>
          <a:ln/>
        </p:spPr>
        <p:txBody>
          <a:bodyPr wrap="square" lIns="0" tIns="0" rIns="0" bIns="0" rtlCol="0" anchor="ctr"/>
          <a:lstStyle/>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resident_id (PK)</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name, phone, email</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flat_id (FK)</a:t>
            </a:r>
            <a:endParaRPr lang="en-US" sz="1000" dirty="0"/>
          </a:p>
        </p:txBody>
      </p:sp>
      <p:sp>
        <p:nvSpPr>
          <p:cNvPr id="9" name="Shape 7"/>
          <p:cNvSpPr/>
          <p:nvPr/>
        </p:nvSpPr>
        <p:spPr>
          <a:xfrm>
            <a:off x="2852928" y="1691640"/>
            <a:ext cx="2103120" cy="2331720"/>
          </a:xfrm>
          <a:prstGeom prst="roundRect">
            <a:avLst>
              <a:gd name="adj" fmla="val 2609"/>
            </a:avLst>
          </a:prstGeom>
          <a:solidFill>
            <a:srgbClr val="1E2761"/>
          </a:solidFill>
          <a:ln/>
        </p:spPr>
      </p:sp>
      <p:sp>
        <p:nvSpPr>
          <p:cNvPr id="10" name="Shape 8"/>
          <p:cNvSpPr/>
          <p:nvPr/>
        </p:nvSpPr>
        <p:spPr>
          <a:xfrm>
            <a:off x="2852928" y="1691640"/>
            <a:ext cx="2103120" cy="457200"/>
          </a:xfrm>
          <a:prstGeom prst="rect">
            <a:avLst/>
          </a:prstGeom>
          <a:solidFill>
            <a:srgbClr val="1E2761"/>
          </a:solidFill>
          <a:ln/>
        </p:spPr>
      </p:sp>
      <p:sp>
        <p:nvSpPr>
          <p:cNvPr id="11" name="Text 9"/>
          <p:cNvSpPr txBox="1"/>
          <p:nvPr/>
        </p:nvSpPr>
        <p:spPr>
          <a:xfrm>
            <a:off x="2944368" y="1801368"/>
            <a:ext cx="1920240" cy="320040"/>
          </a:xfrm>
          <a:prstGeom prst="rect">
            <a:avLst/>
          </a:prstGeom>
          <a:noFill/>
          <a:ln/>
        </p:spPr>
        <p:txBody>
          <a:bodyPr wrap="square" lIns="0" tIns="0" rIns="0" bIns="0" rtlCol="0" anchor="ctr"/>
          <a:lstStyle/>
          <a:p>
            <a:pPr algn="ctr" indent="0" marL="0">
              <a:buNone/>
            </a:pPr>
            <a:r>
              <a:rPr lang="en-US" sz="1200" b="1" dirty="0">
                <a:solidFill>
                  <a:srgbClr val="F9A826"/>
                </a:solidFill>
                <a:latin typeface="Calibri" pitchFamily="34" charset="0"/>
                <a:ea typeface="Calibri" pitchFamily="34" charset="-122"/>
                <a:cs typeface="Calibri" pitchFamily="34" charset="-120"/>
              </a:rPr>
              <a:t>FLAT</a:t>
            </a:r>
            <a:endParaRPr lang="en-US" sz="1200" dirty="0"/>
          </a:p>
        </p:txBody>
      </p:sp>
      <p:sp>
        <p:nvSpPr>
          <p:cNvPr id="12" name="Shape 10"/>
          <p:cNvSpPr/>
          <p:nvPr/>
        </p:nvSpPr>
        <p:spPr>
          <a:xfrm>
            <a:off x="2990088" y="2194560"/>
            <a:ext cx="1828800" cy="0"/>
          </a:xfrm>
          <a:prstGeom prst="line">
            <a:avLst/>
          </a:prstGeom>
          <a:noFill/>
          <a:ln w="12700">
            <a:solidFill>
              <a:srgbClr val="3A468F"/>
            </a:solidFill>
            <a:prstDash val="solid"/>
          </a:ln>
        </p:spPr>
      </p:sp>
      <p:sp>
        <p:nvSpPr>
          <p:cNvPr id="13" name="Text 11"/>
          <p:cNvSpPr txBox="1"/>
          <p:nvPr/>
        </p:nvSpPr>
        <p:spPr>
          <a:xfrm>
            <a:off x="2990088" y="2313432"/>
            <a:ext cx="1828800" cy="1600200"/>
          </a:xfrm>
          <a:prstGeom prst="rect">
            <a:avLst/>
          </a:prstGeom>
          <a:noFill/>
          <a:ln/>
        </p:spPr>
        <p:txBody>
          <a:bodyPr wrap="square" lIns="0" tIns="0" rIns="0" bIns="0" rtlCol="0" anchor="ctr"/>
          <a:lstStyle/>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flat_id (PK)</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block, floor, area_sqft</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owner_id (FK)</a:t>
            </a:r>
            <a:endParaRPr lang="en-US" sz="1000" dirty="0"/>
          </a:p>
        </p:txBody>
      </p:sp>
      <p:sp>
        <p:nvSpPr>
          <p:cNvPr id="14" name="Shape 12"/>
          <p:cNvSpPr/>
          <p:nvPr/>
        </p:nvSpPr>
        <p:spPr>
          <a:xfrm>
            <a:off x="5157216" y="1691640"/>
            <a:ext cx="2103120" cy="2331720"/>
          </a:xfrm>
          <a:prstGeom prst="roundRect">
            <a:avLst>
              <a:gd name="adj" fmla="val 2609"/>
            </a:avLst>
          </a:prstGeom>
          <a:solidFill>
            <a:srgbClr val="1E2761"/>
          </a:solidFill>
          <a:ln/>
        </p:spPr>
      </p:sp>
      <p:sp>
        <p:nvSpPr>
          <p:cNvPr id="15" name="Shape 13"/>
          <p:cNvSpPr/>
          <p:nvPr/>
        </p:nvSpPr>
        <p:spPr>
          <a:xfrm>
            <a:off x="5157216" y="1691640"/>
            <a:ext cx="2103120" cy="457200"/>
          </a:xfrm>
          <a:prstGeom prst="rect">
            <a:avLst/>
          </a:prstGeom>
          <a:solidFill>
            <a:srgbClr val="1E2761"/>
          </a:solidFill>
          <a:ln/>
        </p:spPr>
      </p:sp>
      <p:sp>
        <p:nvSpPr>
          <p:cNvPr id="16" name="Text 14"/>
          <p:cNvSpPr txBox="1"/>
          <p:nvPr/>
        </p:nvSpPr>
        <p:spPr>
          <a:xfrm>
            <a:off x="5248656" y="1801368"/>
            <a:ext cx="1920240" cy="320040"/>
          </a:xfrm>
          <a:prstGeom prst="rect">
            <a:avLst/>
          </a:prstGeom>
          <a:noFill/>
          <a:ln/>
        </p:spPr>
        <p:txBody>
          <a:bodyPr wrap="square" lIns="0" tIns="0" rIns="0" bIns="0" rtlCol="0" anchor="ctr"/>
          <a:lstStyle/>
          <a:p>
            <a:pPr algn="ctr" indent="0" marL="0">
              <a:buNone/>
            </a:pPr>
            <a:r>
              <a:rPr lang="en-US" sz="1200" b="1" dirty="0">
                <a:solidFill>
                  <a:srgbClr val="F9A826"/>
                </a:solidFill>
                <a:latin typeface="Calibri" pitchFamily="34" charset="0"/>
                <a:ea typeface="Calibri" pitchFamily="34" charset="-122"/>
                <a:cs typeface="Calibri" pitchFamily="34" charset="-120"/>
              </a:rPr>
              <a:t>MAINTENANCE_BILL</a:t>
            </a:r>
            <a:endParaRPr lang="en-US" sz="1200" dirty="0"/>
          </a:p>
        </p:txBody>
      </p:sp>
      <p:sp>
        <p:nvSpPr>
          <p:cNvPr id="17" name="Shape 15"/>
          <p:cNvSpPr/>
          <p:nvPr/>
        </p:nvSpPr>
        <p:spPr>
          <a:xfrm>
            <a:off x="5294376" y="2194560"/>
            <a:ext cx="1828800" cy="0"/>
          </a:xfrm>
          <a:prstGeom prst="line">
            <a:avLst/>
          </a:prstGeom>
          <a:noFill/>
          <a:ln w="12700">
            <a:solidFill>
              <a:srgbClr val="3A468F"/>
            </a:solidFill>
            <a:prstDash val="solid"/>
          </a:ln>
        </p:spPr>
      </p:sp>
      <p:sp>
        <p:nvSpPr>
          <p:cNvPr id="18" name="Text 16"/>
          <p:cNvSpPr txBox="1"/>
          <p:nvPr/>
        </p:nvSpPr>
        <p:spPr>
          <a:xfrm>
            <a:off x="5294376" y="2313432"/>
            <a:ext cx="1828800" cy="1600200"/>
          </a:xfrm>
          <a:prstGeom prst="rect">
            <a:avLst/>
          </a:prstGeom>
          <a:noFill/>
          <a:ln/>
        </p:spPr>
        <p:txBody>
          <a:bodyPr wrap="square" lIns="0" tIns="0" rIns="0" bIns="0" rtlCol="0" anchor="ctr"/>
          <a:lstStyle/>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bill_id (PK)</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flat_id (FK), month, amount</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due_date, status</a:t>
            </a:r>
            <a:endParaRPr lang="en-US" sz="1000" dirty="0"/>
          </a:p>
        </p:txBody>
      </p:sp>
      <p:sp>
        <p:nvSpPr>
          <p:cNvPr id="19" name="Shape 17"/>
          <p:cNvSpPr/>
          <p:nvPr/>
        </p:nvSpPr>
        <p:spPr>
          <a:xfrm>
            <a:off x="7461504" y="1691640"/>
            <a:ext cx="2103120" cy="2331720"/>
          </a:xfrm>
          <a:prstGeom prst="roundRect">
            <a:avLst>
              <a:gd name="adj" fmla="val 2609"/>
            </a:avLst>
          </a:prstGeom>
          <a:solidFill>
            <a:srgbClr val="1E2761"/>
          </a:solidFill>
          <a:ln/>
        </p:spPr>
      </p:sp>
      <p:sp>
        <p:nvSpPr>
          <p:cNvPr id="20" name="Shape 18"/>
          <p:cNvSpPr/>
          <p:nvPr/>
        </p:nvSpPr>
        <p:spPr>
          <a:xfrm>
            <a:off x="7461504" y="1691640"/>
            <a:ext cx="2103120" cy="457200"/>
          </a:xfrm>
          <a:prstGeom prst="rect">
            <a:avLst/>
          </a:prstGeom>
          <a:solidFill>
            <a:srgbClr val="1E2761"/>
          </a:solidFill>
          <a:ln/>
        </p:spPr>
      </p:sp>
      <p:sp>
        <p:nvSpPr>
          <p:cNvPr id="21" name="Text 19"/>
          <p:cNvSpPr txBox="1"/>
          <p:nvPr/>
        </p:nvSpPr>
        <p:spPr>
          <a:xfrm>
            <a:off x="7552944" y="1801368"/>
            <a:ext cx="1920240" cy="320040"/>
          </a:xfrm>
          <a:prstGeom prst="rect">
            <a:avLst/>
          </a:prstGeom>
          <a:noFill/>
          <a:ln/>
        </p:spPr>
        <p:txBody>
          <a:bodyPr wrap="square" lIns="0" tIns="0" rIns="0" bIns="0" rtlCol="0" anchor="ctr"/>
          <a:lstStyle/>
          <a:p>
            <a:pPr algn="ctr" indent="0" marL="0">
              <a:buNone/>
            </a:pPr>
            <a:r>
              <a:rPr lang="en-US" sz="1200" b="1" dirty="0">
                <a:solidFill>
                  <a:srgbClr val="F9A826"/>
                </a:solidFill>
                <a:latin typeface="Calibri" pitchFamily="34" charset="0"/>
                <a:ea typeface="Calibri" pitchFamily="34" charset="-122"/>
                <a:cs typeface="Calibri" pitchFamily="34" charset="-120"/>
              </a:rPr>
              <a:t>PAYMENT</a:t>
            </a:r>
            <a:endParaRPr lang="en-US" sz="1200" dirty="0"/>
          </a:p>
        </p:txBody>
      </p:sp>
      <p:sp>
        <p:nvSpPr>
          <p:cNvPr id="22" name="Shape 20"/>
          <p:cNvSpPr/>
          <p:nvPr/>
        </p:nvSpPr>
        <p:spPr>
          <a:xfrm>
            <a:off x="7598664" y="2194560"/>
            <a:ext cx="1828800" cy="0"/>
          </a:xfrm>
          <a:prstGeom prst="line">
            <a:avLst/>
          </a:prstGeom>
          <a:noFill/>
          <a:ln w="12700">
            <a:solidFill>
              <a:srgbClr val="3A468F"/>
            </a:solidFill>
            <a:prstDash val="solid"/>
          </a:ln>
        </p:spPr>
      </p:sp>
      <p:sp>
        <p:nvSpPr>
          <p:cNvPr id="23" name="Text 21"/>
          <p:cNvSpPr txBox="1"/>
          <p:nvPr/>
        </p:nvSpPr>
        <p:spPr>
          <a:xfrm>
            <a:off x="7598664" y="2313432"/>
            <a:ext cx="1828800" cy="1600200"/>
          </a:xfrm>
          <a:prstGeom prst="rect">
            <a:avLst/>
          </a:prstGeom>
          <a:noFill/>
          <a:ln/>
        </p:spPr>
        <p:txBody>
          <a:bodyPr wrap="square" lIns="0" tIns="0" rIns="0" bIns="0" rtlCol="0" anchor="ctr"/>
          <a:lstStyle/>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payment_id (PK)</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bill_id (FK), amount_paid</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payment_date, mode</a:t>
            </a:r>
            <a:endParaRPr lang="en-US" sz="1000" dirty="0"/>
          </a:p>
        </p:txBody>
      </p:sp>
      <p:sp>
        <p:nvSpPr>
          <p:cNvPr id="24" name="Shape 22"/>
          <p:cNvSpPr/>
          <p:nvPr/>
        </p:nvSpPr>
        <p:spPr>
          <a:xfrm>
            <a:off x="9765792" y="1691640"/>
            <a:ext cx="2103120" cy="2331720"/>
          </a:xfrm>
          <a:prstGeom prst="roundRect">
            <a:avLst>
              <a:gd name="adj" fmla="val 2609"/>
            </a:avLst>
          </a:prstGeom>
          <a:solidFill>
            <a:srgbClr val="1E2761"/>
          </a:solidFill>
          <a:ln/>
        </p:spPr>
      </p:sp>
      <p:sp>
        <p:nvSpPr>
          <p:cNvPr id="25" name="Shape 23"/>
          <p:cNvSpPr/>
          <p:nvPr/>
        </p:nvSpPr>
        <p:spPr>
          <a:xfrm>
            <a:off x="9765792" y="1691640"/>
            <a:ext cx="2103120" cy="457200"/>
          </a:xfrm>
          <a:prstGeom prst="rect">
            <a:avLst/>
          </a:prstGeom>
          <a:solidFill>
            <a:srgbClr val="1E2761"/>
          </a:solidFill>
          <a:ln/>
        </p:spPr>
      </p:sp>
      <p:sp>
        <p:nvSpPr>
          <p:cNvPr id="26" name="Text 24"/>
          <p:cNvSpPr txBox="1"/>
          <p:nvPr/>
        </p:nvSpPr>
        <p:spPr>
          <a:xfrm>
            <a:off x="9857232" y="1801368"/>
            <a:ext cx="1920240" cy="320040"/>
          </a:xfrm>
          <a:prstGeom prst="rect">
            <a:avLst/>
          </a:prstGeom>
          <a:noFill/>
          <a:ln/>
        </p:spPr>
        <p:txBody>
          <a:bodyPr wrap="square" lIns="0" tIns="0" rIns="0" bIns="0" rtlCol="0" anchor="ctr"/>
          <a:lstStyle/>
          <a:p>
            <a:pPr algn="ctr" indent="0" marL="0">
              <a:buNone/>
            </a:pPr>
            <a:r>
              <a:rPr lang="en-US" sz="1200" b="1" dirty="0">
                <a:solidFill>
                  <a:srgbClr val="F9A826"/>
                </a:solidFill>
                <a:latin typeface="Calibri" pitchFamily="34" charset="0"/>
                <a:ea typeface="Calibri" pitchFamily="34" charset="-122"/>
                <a:cs typeface="Calibri" pitchFamily="34" charset="-120"/>
              </a:rPr>
              <a:t>COMPLAINT</a:t>
            </a:r>
            <a:endParaRPr lang="en-US" sz="1200" dirty="0"/>
          </a:p>
        </p:txBody>
      </p:sp>
      <p:sp>
        <p:nvSpPr>
          <p:cNvPr id="27" name="Shape 25"/>
          <p:cNvSpPr/>
          <p:nvPr/>
        </p:nvSpPr>
        <p:spPr>
          <a:xfrm>
            <a:off x="9902952" y="2194560"/>
            <a:ext cx="1828800" cy="0"/>
          </a:xfrm>
          <a:prstGeom prst="line">
            <a:avLst/>
          </a:prstGeom>
          <a:noFill/>
          <a:ln w="12700">
            <a:solidFill>
              <a:srgbClr val="3A468F"/>
            </a:solidFill>
            <a:prstDash val="solid"/>
          </a:ln>
        </p:spPr>
      </p:sp>
      <p:sp>
        <p:nvSpPr>
          <p:cNvPr id="28" name="Text 26"/>
          <p:cNvSpPr txBox="1"/>
          <p:nvPr/>
        </p:nvSpPr>
        <p:spPr>
          <a:xfrm>
            <a:off x="9902952" y="2313432"/>
            <a:ext cx="1828800" cy="1600200"/>
          </a:xfrm>
          <a:prstGeom prst="rect">
            <a:avLst/>
          </a:prstGeom>
          <a:noFill/>
          <a:ln/>
        </p:spPr>
        <p:txBody>
          <a:bodyPr wrap="square" lIns="0" tIns="0" rIns="0" bIns="0" rtlCol="0" anchor="ctr"/>
          <a:lstStyle/>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complaint_id (PK)</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resident_id (FK), category</a:t>
            </a:r>
            <a:endParaRPr lang="en-US" sz="1000" dirty="0"/>
          </a:p>
          <a:p>
            <a:pPr indent="0" marL="0">
              <a:lnSpc>
                <a:spcPct val="135000"/>
              </a:lnSpc>
              <a:buNone/>
            </a:pPr>
            <a:r>
              <a:rPr lang="en-US" sz="1000" dirty="0">
                <a:solidFill>
                  <a:srgbClr val="CADCFC"/>
                </a:solidFill>
                <a:latin typeface="Calibri" pitchFamily="34" charset="0"/>
                <a:ea typeface="Calibri" pitchFamily="34" charset="-122"/>
                <a:cs typeface="Calibri" pitchFamily="34" charset="-120"/>
              </a:rPr>
              <a:t>status, raised_on</a:t>
            </a:r>
            <a:endParaRPr lang="en-US" sz="1000" dirty="0"/>
          </a:p>
        </p:txBody>
      </p:sp>
      <p:sp>
        <p:nvSpPr>
          <p:cNvPr id="29" name="Shape 27"/>
          <p:cNvSpPr/>
          <p:nvPr/>
        </p:nvSpPr>
        <p:spPr>
          <a:xfrm>
            <a:off x="2651760" y="2857500"/>
            <a:ext cx="201168" cy="0"/>
          </a:xfrm>
          <a:prstGeom prst="line">
            <a:avLst/>
          </a:prstGeom>
          <a:noFill/>
          <a:ln w="19050">
            <a:solidFill>
              <a:srgbClr val="5C6B9E"/>
            </a:solidFill>
            <a:prstDash val="solid"/>
            <a:tailEnd type="triangle"/>
          </a:ln>
        </p:spPr>
      </p:sp>
      <p:sp>
        <p:nvSpPr>
          <p:cNvPr id="30" name="Shape 28"/>
          <p:cNvSpPr/>
          <p:nvPr/>
        </p:nvSpPr>
        <p:spPr>
          <a:xfrm>
            <a:off x="4956048" y="2857500"/>
            <a:ext cx="201168" cy="0"/>
          </a:xfrm>
          <a:prstGeom prst="line">
            <a:avLst/>
          </a:prstGeom>
          <a:noFill/>
          <a:ln w="19050">
            <a:solidFill>
              <a:srgbClr val="5C6B9E"/>
            </a:solidFill>
            <a:prstDash val="solid"/>
            <a:tailEnd type="triangle"/>
          </a:ln>
        </p:spPr>
      </p:sp>
      <p:sp>
        <p:nvSpPr>
          <p:cNvPr id="31" name="Shape 29"/>
          <p:cNvSpPr/>
          <p:nvPr/>
        </p:nvSpPr>
        <p:spPr>
          <a:xfrm>
            <a:off x="7260336" y="2857500"/>
            <a:ext cx="201168" cy="0"/>
          </a:xfrm>
          <a:prstGeom prst="line">
            <a:avLst/>
          </a:prstGeom>
          <a:noFill/>
          <a:ln w="19050">
            <a:solidFill>
              <a:srgbClr val="5C6B9E"/>
            </a:solidFill>
            <a:prstDash val="solid"/>
            <a:tailEnd type="triangle"/>
          </a:ln>
        </p:spPr>
      </p:sp>
      <p:sp>
        <p:nvSpPr>
          <p:cNvPr id="32" name="Shape 30"/>
          <p:cNvSpPr/>
          <p:nvPr/>
        </p:nvSpPr>
        <p:spPr>
          <a:xfrm>
            <a:off x="9564624" y="2857500"/>
            <a:ext cx="201168" cy="0"/>
          </a:xfrm>
          <a:prstGeom prst="line">
            <a:avLst/>
          </a:prstGeom>
          <a:noFill/>
          <a:ln w="19050">
            <a:solidFill>
              <a:srgbClr val="5C6B9E"/>
            </a:solidFill>
            <a:prstDash val="solid"/>
            <a:tailEnd type="triangle"/>
          </a:ln>
        </p:spPr>
      </p:sp>
      <p:sp>
        <p:nvSpPr>
          <p:cNvPr id="33" name="Text 31"/>
          <p:cNvSpPr txBox="1"/>
          <p:nvPr/>
        </p:nvSpPr>
        <p:spPr>
          <a:xfrm>
            <a:off x="548640" y="4133088"/>
            <a:ext cx="11064240" cy="274320"/>
          </a:xfrm>
          <a:prstGeom prst="rect">
            <a:avLst/>
          </a:prstGeom>
          <a:noFill/>
          <a:ln/>
        </p:spPr>
        <p:txBody>
          <a:bodyPr wrap="square" lIns="0" tIns="0" rIns="0" bIns="0" rtlCol="0" anchor="ctr"/>
          <a:lstStyle/>
          <a:p>
            <a:pPr algn="l" indent="0" marL="0">
              <a:buNone/>
            </a:pPr>
            <a:r>
              <a:rPr lang="en-US" sz="1000" dirty="0">
                <a:solidFill>
                  <a:srgbClr val="5C6B9E"/>
                </a:solidFill>
                <a:latin typeface="Calibri" pitchFamily="34" charset="0"/>
                <a:ea typeface="Calibri" pitchFamily="34" charset="-122"/>
                <a:cs typeface="Calibri" pitchFamily="34" charset="-120"/>
              </a:rPr>
              <a:t>1 : N   1 : N   1 : N   1 : N</a:t>
            </a:r>
            <a:endParaRPr lang="en-US" sz="1000" dirty="0"/>
          </a:p>
        </p:txBody>
      </p:sp>
      <p:sp>
        <p:nvSpPr>
          <p:cNvPr id="34" name="Shape 32"/>
          <p:cNvSpPr/>
          <p:nvPr/>
        </p:nvSpPr>
        <p:spPr>
          <a:xfrm>
            <a:off x="548640" y="4526280"/>
            <a:ext cx="11064240" cy="1417320"/>
          </a:xfrm>
          <a:prstGeom prst="roundRect">
            <a:avLst>
              <a:gd name="adj" fmla="val 3871"/>
            </a:avLst>
          </a:prstGeom>
          <a:solidFill>
            <a:srgbClr val="F4F6FC"/>
          </a:solidFill>
          <a:ln/>
        </p:spPr>
      </p:sp>
      <p:sp>
        <p:nvSpPr>
          <p:cNvPr id="35" name="Text 33"/>
          <p:cNvSpPr txBox="1"/>
          <p:nvPr/>
        </p:nvSpPr>
        <p:spPr>
          <a:xfrm>
            <a:off x="822960" y="4681728"/>
            <a:ext cx="365760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Design Highlights</a:t>
            </a:r>
            <a:endParaRPr lang="en-US" sz="1400" dirty="0"/>
          </a:p>
        </p:txBody>
      </p:sp>
      <p:sp>
        <p:nvSpPr>
          <p:cNvPr id="36" name="Text 34"/>
          <p:cNvSpPr txBox="1"/>
          <p:nvPr/>
        </p:nvSpPr>
        <p:spPr>
          <a:xfrm>
            <a:off x="822960" y="5010912"/>
            <a:ext cx="10515600" cy="868680"/>
          </a:xfrm>
          <a:prstGeom prst="rect">
            <a:avLst/>
          </a:prstGeom>
          <a:noFill/>
          <a:ln/>
        </p:spPr>
        <p:txBody>
          <a:bodyPr wrap="square" lIns="0" tIns="0" rIns="0" bIns="0" rtlCol="0" anchor="ctr"/>
          <a:lstStyle/>
          <a:p>
            <a:pPr indent="0" marL="0">
              <a:lnSpc>
                <a:spcPct val="125000"/>
              </a:lnSpc>
              <a:buNone/>
            </a:pPr>
            <a:r>
              <a:rPr lang="en-US" sz="1150" dirty="0">
                <a:solidFill>
                  <a:srgbClr val="1E2761"/>
                </a:solidFill>
                <a:latin typeface="Calibri" pitchFamily="34" charset="0"/>
                <a:ea typeface="Calibri" pitchFamily="34" charset="-122"/>
                <a:cs typeface="Calibri" pitchFamily="34" charset="-120"/>
              </a:rPr>
              <a:t>•  Normalized to 3NF to eliminate redundancy in resident and billing data
</a:t>
            </a:r>
            <a:pPr indent="0" marL="0">
              <a:lnSpc>
                <a:spcPct val="125000"/>
              </a:lnSpc>
              <a:buNone/>
            </a:pPr>
            <a:r>
              <a:rPr lang="en-US" sz="1150" dirty="0">
                <a:solidFill>
                  <a:srgbClr val="1E2761"/>
                </a:solidFill>
                <a:latin typeface="Calibri" pitchFamily="34" charset="0"/>
                <a:ea typeface="Calibri" pitchFamily="34" charset="-122"/>
                <a:cs typeface="Calibri" pitchFamily="34" charset="-120"/>
              </a:rPr>
              <a:t>•  Referential integrity enforced via foreign keys (flat_id, resident_id, bill_id)
</a:t>
            </a:r>
            <a:pPr indent="0" marL="0">
              <a:lnSpc>
                <a:spcPct val="125000"/>
              </a:lnSpc>
              <a:buNone/>
            </a:pPr>
            <a:r>
              <a:rPr lang="en-US" sz="1150" dirty="0">
                <a:solidFill>
                  <a:srgbClr val="1E2761"/>
                </a:solidFill>
                <a:latin typeface="Calibri" pitchFamily="34" charset="0"/>
                <a:ea typeface="Calibri" pitchFamily="34" charset="-122"/>
                <a:cs typeface="Calibri" pitchFamily="34" charset="-120"/>
              </a:rPr>
              <a:t>•  One flat can have many residents and many bills; one bill can have many partial payments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Implementation</a:t>
            </a:r>
            <a:endParaRPr lang="en-US" sz="3000" dirty="0"/>
          </a:p>
        </p:txBody>
      </p:sp>
      <p:sp>
        <p:nvSpPr>
          <p:cNvPr id="3" name="Text 1"/>
          <p:cNvSpPr txBox="1"/>
          <p:nvPr/>
        </p:nvSpPr>
        <p:spPr>
          <a:xfrm>
            <a:off x="548640" y="960120"/>
            <a:ext cx="9144000" cy="365760"/>
          </a:xfrm>
          <a:prstGeom prst="rect">
            <a:avLst/>
          </a:prstGeom>
          <a:noFill/>
          <a:ln/>
        </p:spPr>
        <p:txBody>
          <a:bodyPr wrap="square" lIns="0" tIns="0" rIns="0" bIns="0" rtlCol="0" anchor="ctr"/>
          <a:lstStyle/>
          <a:p>
            <a:pPr indent="0" marL="0">
              <a:buNone/>
            </a:pPr>
            <a:r>
              <a:rPr lang="en-US" sz="1400" i="1" dirty="0">
                <a:solidFill>
                  <a:srgbClr val="5C6B9E"/>
                </a:solidFill>
                <a:latin typeface="Calibri" pitchFamily="34" charset="0"/>
                <a:ea typeface="Calibri" pitchFamily="34" charset="-122"/>
                <a:cs typeface="Calibri" pitchFamily="34" charset="-120"/>
              </a:rPr>
              <a:t>Technology stack and core system modules</a:t>
            </a:r>
            <a:endParaRPr lang="en-US" sz="1400" dirty="0"/>
          </a:p>
        </p:txBody>
      </p:sp>
      <p:sp>
        <p:nvSpPr>
          <p:cNvPr id="4" name="Shape 2"/>
          <p:cNvSpPr/>
          <p:nvPr/>
        </p:nvSpPr>
        <p:spPr>
          <a:xfrm>
            <a:off x="548640" y="1600200"/>
            <a:ext cx="3657600" cy="4434840"/>
          </a:xfrm>
          <a:prstGeom prst="roundRect">
            <a:avLst>
              <a:gd name="adj" fmla="val 2000"/>
            </a:avLst>
          </a:prstGeom>
          <a:solidFill>
            <a:srgbClr val="1E2761"/>
          </a:solidFill>
          <a:ln/>
        </p:spPr>
      </p:sp>
      <p:sp>
        <p:nvSpPr>
          <p:cNvPr id="5" name="Text 3"/>
          <p:cNvSpPr txBox="1"/>
          <p:nvPr/>
        </p:nvSpPr>
        <p:spPr>
          <a:xfrm>
            <a:off x="868680" y="1828800"/>
            <a:ext cx="3108960" cy="365760"/>
          </a:xfrm>
          <a:prstGeom prst="rect">
            <a:avLst/>
          </a:prstGeom>
          <a:noFill/>
          <a:ln/>
        </p:spPr>
        <p:txBody>
          <a:bodyPr wrap="square" lIns="0" tIns="0" rIns="0" bIns="0" rtlCol="0" anchor="ctr"/>
          <a:lstStyle/>
          <a:p>
            <a:pPr indent="0" marL="0">
              <a:buNone/>
            </a:pPr>
            <a:r>
              <a:rPr lang="en-US" sz="1600" b="1" dirty="0">
                <a:solidFill>
                  <a:srgbClr val="F9A826"/>
                </a:solidFill>
                <a:latin typeface="Cambria" pitchFamily="34" charset="0"/>
                <a:ea typeface="Cambria" pitchFamily="34" charset="-122"/>
                <a:cs typeface="Cambria" pitchFamily="34" charset="-120"/>
              </a:rPr>
              <a:t>Technology Stack</a:t>
            </a:r>
            <a:endParaRPr lang="en-US" sz="1600" dirty="0"/>
          </a:p>
        </p:txBody>
      </p:sp>
      <p:sp>
        <p:nvSpPr>
          <p:cNvPr id="6" name="Text 4"/>
          <p:cNvSpPr txBox="1"/>
          <p:nvPr/>
        </p:nvSpPr>
        <p:spPr>
          <a:xfrm>
            <a:off x="868680" y="2377440"/>
            <a:ext cx="301752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Frontend</a:t>
            </a:r>
            <a:endParaRPr lang="en-US" sz="1250" dirty="0"/>
          </a:p>
        </p:txBody>
      </p:sp>
      <p:sp>
        <p:nvSpPr>
          <p:cNvPr id="7" name="Text 5"/>
          <p:cNvSpPr txBox="1"/>
          <p:nvPr/>
        </p:nvSpPr>
        <p:spPr>
          <a:xfrm>
            <a:off x="868680" y="2651760"/>
            <a:ext cx="3017520" cy="320040"/>
          </a:xfrm>
          <a:prstGeom prst="rect">
            <a:avLst/>
          </a:prstGeom>
          <a:noFill/>
          <a:ln/>
        </p:spPr>
        <p:txBody>
          <a:bodyPr wrap="square" lIns="0" tIns="0" rIns="0" bIns="0" rtlCol="0" anchor="ctr"/>
          <a:lstStyle/>
          <a:p>
            <a:pPr indent="0" marL="0">
              <a:buNone/>
            </a:pPr>
            <a:r>
              <a:rPr lang="en-US" sz="1100" dirty="0">
                <a:solidFill>
                  <a:srgbClr val="9FB0E0"/>
                </a:solidFill>
                <a:latin typeface="Calibri" pitchFamily="34" charset="0"/>
                <a:ea typeface="Calibri" pitchFamily="34" charset="-122"/>
                <a:cs typeface="Calibri" pitchFamily="34" charset="-120"/>
              </a:rPr>
              <a:t>HTML, CSS, JavaScript / React</a:t>
            </a:r>
            <a:endParaRPr lang="en-US" sz="1100" dirty="0"/>
          </a:p>
        </p:txBody>
      </p:sp>
      <p:sp>
        <p:nvSpPr>
          <p:cNvPr id="8" name="Text 6"/>
          <p:cNvSpPr txBox="1"/>
          <p:nvPr/>
        </p:nvSpPr>
        <p:spPr>
          <a:xfrm>
            <a:off x="868680" y="3090672"/>
            <a:ext cx="301752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Backend</a:t>
            </a:r>
            <a:endParaRPr lang="en-US" sz="1250" dirty="0"/>
          </a:p>
        </p:txBody>
      </p:sp>
      <p:sp>
        <p:nvSpPr>
          <p:cNvPr id="9" name="Text 7"/>
          <p:cNvSpPr txBox="1"/>
          <p:nvPr/>
        </p:nvSpPr>
        <p:spPr>
          <a:xfrm>
            <a:off x="868680" y="3364992"/>
            <a:ext cx="3017520" cy="320040"/>
          </a:xfrm>
          <a:prstGeom prst="rect">
            <a:avLst/>
          </a:prstGeom>
          <a:noFill/>
          <a:ln/>
        </p:spPr>
        <p:txBody>
          <a:bodyPr wrap="square" lIns="0" tIns="0" rIns="0" bIns="0" rtlCol="0" anchor="ctr"/>
          <a:lstStyle/>
          <a:p>
            <a:pPr indent="0" marL="0">
              <a:buNone/>
            </a:pPr>
            <a:r>
              <a:rPr lang="en-US" sz="1100" dirty="0">
                <a:solidFill>
                  <a:srgbClr val="9FB0E0"/>
                </a:solidFill>
                <a:latin typeface="Calibri" pitchFamily="34" charset="0"/>
                <a:ea typeface="Calibri" pitchFamily="34" charset="-122"/>
                <a:cs typeface="Calibri" pitchFamily="34" charset="-120"/>
              </a:rPr>
              <a:t>Java (Servlets/Spring) or PHP</a:t>
            </a:r>
            <a:endParaRPr lang="en-US" sz="1100" dirty="0"/>
          </a:p>
        </p:txBody>
      </p:sp>
      <p:sp>
        <p:nvSpPr>
          <p:cNvPr id="10" name="Text 8"/>
          <p:cNvSpPr txBox="1"/>
          <p:nvPr/>
        </p:nvSpPr>
        <p:spPr>
          <a:xfrm>
            <a:off x="868680" y="3803904"/>
            <a:ext cx="301752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Database</a:t>
            </a:r>
            <a:endParaRPr lang="en-US" sz="1250" dirty="0"/>
          </a:p>
        </p:txBody>
      </p:sp>
      <p:sp>
        <p:nvSpPr>
          <p:cNvPr id="11" name="Text 9"/>
          <p:cNvSpPr txBox="1"/>
          <p:nvPr/>
        </p:nvSpPr>
        <p:spPr>
          <a:xfrm>
            <a:off x="868680" y="4078224"/>
            <a:ext cx="3017520" cy="320040"/>
          </a:xfrm>
          <a:prstGeom prst="rect">
            <a:avLst/>
          </a:prstGeom>
          <a:noFill/>
          <a:ln/>
        </p:spPr>
        <p:txBody>
          <a:bodyPr wrap="square" lIns="0" tIns="0" rIns="0" bIns="0" rtlCol="0" anchor="ctr"/>
          <a:lstStyle/>
          <a:p>
            <a:pPr indent="0" marL="0">
              <a:buNone/>
            </a:pPr>
            <a:r>
              <a:rPr lang="en-US" sz="1100" dirty="0">
                <a:solidFill>
                  <a:srgbClr val="9FB0E0"/>
                </a:solidFill>
                <a:latin typeface="Calibri" pitchFamily="34" charset="0"/>
                <a:ea typeface="Calibri" pitchFamily="34" charset="-122"/>
                <a:cs typeface="Calibri" pitchFamily="34" charset="-120"/>
              </a:rPr>
              <a:t>MySQL / PostgreSQL</a:t>
            </a:r>
            <a:endParaRPr lang="en-US" sz="1100" dirty="0"/>
          </a:p>
        </p:txBody>
      </p:sp>
      <p:sp>
        <p:nvSpPr>
          <p:cNvPr id="12" name="Text 10"/>
          <p:cNvSpPr txBox="1"/>
          <p:nvPr/>
        </p:nvSpPr>
        <p:spPr>
          <a:xfrm>
            <a:off x="868680" y="4517136"/>
            <a:ext cx="301752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Queries</a:t>
            </a:r>
            <a:endParaRPr lang="en-US" sz="1250" dirty="0"/>
          </a:p>
        </p:txBody>
      </p:sp>
      <p:sp>
        <p:nvSpPr>
          <p:cNvPr id="13" name="Text 11"/>
          <p:cNvSpPr txBox="1"/>
          <p:nvPr/>
        </p:nvSpPr>
        <p:spPr>
          <a:xfrm>
            <a:off x="868680" y="4791456"/>
            <a:ext cx="3017520" cy="320040"/>
          </a:xfrm>
          <a:prstGeom prst="rect">
            <a:avLst/>
          </a:prstGeom>
          <a:noFill/>
          <a:ln/>
        </p:spPr>
        <p:txBody>
          <a:bodyPr wrap="square" lIns="0" tIns="0" rIns="0" bIns="0" rtlCol="0" anchor="ctr"/>
          <a:lstStyle/>
          <a:p>
            <a:pPr indent="0" marL="0">
              <a:buNone/>
            </a:pPr>
            <a:r>
              <a:rPr lang="en-US" sz="1100" dirty="0">
                <a:solidFill>
                  <a:srgbClr val="9FB0E0"/>
                </a:solidFill>
                <a:latin typeface="Calibri" pitchFamily="34" charset="0"/>
                <a:ea typeface="Calibri" pitchFamily="34" charset="-122"/>
                <a:cs typeface="Calibri" pitchFamily="34" charset="-120"/>
              </a:rPr>
              <a:t>SQL (DDL, DML, Joins, Triggers)</a:t>
            </a:r>
            <a:endParaRPr lang="en-US" sz="1100" dirty="0"/>
          </a:p>
        </p:txBody>
      </p:sp>
      <p:sp>
        <p:nvSpPr>
          <p:cNvPr id="14" name="Text 12"/>
          <p:cNvSpPr txBox="1"/>
          <p:nvPr/>
        </p:nvSpPr>
        <p:spPr>
          <a:xfrm>
            <a:off x="868680" y="5230368"/>
            <a:ext cx="301752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Reports</a:t>
            </a:r>
            <a:endParaRPr lang="en-US" sz="1250" dirty="0"/>
          </a:p>
        </p:txBody>
      </p:sp>
      <p:sp>
        <p:nvSpPr>
          <p:cNvPr id="15" name="Text 13"/>
          <p:cNvSpPr txBox="1"/>
          <p:nvPr/>
        </p:nvSpPr>
        <p:spPr>
          <a:xfrm>
            <a:off x="868680" y="5504688"/>
            <a:ext cx="3017520" cy="320040"/>
          </a:xfrm>
          <a:prstGeom prst="rect">
            <a:avLst/>
          </a:prstGeom>
          <a:noFill/>
          <a:ln/>
        </p:spPr>
        <p:txBody>
          <a:bodyPr wrap="square" lIns="0" tIns="0" rIns="0" bIns="0" rtlCol="0" anchor="ctr"/>
          <a:lstStyle/>
          <a:p>
            <a:pPr indent="0" marL="0">
              <a:buNone/>
            </a:pPr>
            <a:r>
              <a:rPr lang="en-US" sz="1100" dirty="0">
                <a:solidFill>
                  <a:srgbClr val="9FB0E0"/>
                </a:solidFill>
                <a:latin typeface="Calibri" pitchFamily="34" charset="0"/>
                <a:ea typeface="Calibri" pitchFamily="34" charset="-122"/>
                <a:cs typeface="Calibri" pitchFamily="34" charset="-120"/>
              </a:rPr>
              <a:t>PDF invoice generation module</a:t>
            </a:r>
            <a:endParaRPr lang="en-US" sz="1100" dirty="0"/>
          </a:p>
        </p:txBody>
      </p:sp>
      <p:sp>
        <p:nvSpPr>
          <p:cNvPr id="16" name="Shape 14"/>
          <p:cNvSpPr/>
          <p:nvPr/>
        </p:nvSpPr>
        <p:spPr>
          <a:xfrm>
            <a:off x="4526280" y="1600200"/>
            <a:ext cx="3520440" cy="2057400"/>
          </a:xfrm>
          <a:prstGeom prst="roundRect">
            <a:avLst>
              <a:gd name="adj" fmla="val 3556"/>
            </a:avLst>
          </a:prstGeom>
          <a:solidFill>
            <a:srgbClr val="F4F6FC"/>
          </a:solidFill>
          <a:ln/>
        </p:spPr>
      </p:sp>
      <p:sp>
        <p:nvSpPr>
          <p:cNvPr id="17" name="Shape 15"/>
          <p:cNvSpPr/>
          <p:nvPr/>
        </p:nvSpPr>
        <p:spPr>
          <a:xfrm>
            <a:off x="4754880" y="1828800"/>
            <a:ext cx="411480" cy="411480"/>
          </a:xfrm>
          <a:prstGeom prst="ellipse">
            <a:avLst/>
          </a:prstGeom>
          <a:solidFill>
            <a:srgbClr val="F9A826"/>
          </a:solidFill>
          <a:ln/>
        </p:spPr>
      </p:sp>
      <p:sp>
        <p:nvSpPr>
          <p:cNvPr id="18" name="Text 16"/>
          <p:cNvSpPr txBox="1"/>
          <p:nvPr/>
        </p:nvSpPr>
        <p:spPr>
          <a:xfrm>
            <a:off x="4754880" y="1828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txBox="1"/>
          <p:nvPr/>
        </p:nvSpPr>
        <p:spPr>
          <a:xfrm>
            <a:off x="4754880" y="2377440"/>
            <a:ext cx="30632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Resident Management</a:t>
            </a:r>
            <a:endParaRPr lang="en-US" sz="1450" dirty="0"/>
          </a:p>
        </p:txBody>
      </p:sp>
      <p:sp>
        <p:nvSpPr>
          <p:cNvPr id="20" name="Text 18"/>
          <p:cNvSpPr txBox="1"/>
          <p:nvPr/>
        </p:nvSpPr>
        <p:spPr>
          <a:xfrm>
            <a:off x="4754880" y="2770632"/>
            <a:ext cx="3063240" cy="777240"/>
          </a:xfrm>
          <a:prstGeom prst="rect">
            <a:avLst/>
          </a:prstGeom>
          <a:noFill/>
          <a:ln/>
        </p:spPr>
        <p:txBody>
          <a:bodyPr wrap="square" lIns="0" tIns="0" rIns="0" bIns="0" rtlCol="0" anchor="ctr"/>
          <a:lstStyle/>
          <a:p>
            <a:pPr indent="0" marL="0">
              <a:lnSpc>
                <a:spcPct val="125000"/>
              </a:lnSpc>
              <a:buNone/>
            </a:pPr>
            <a:r>
              <a:rPr lang="en-US" sz="1150" dirty="0">
                <a:solidFill>
                  <a:srgbClr val="5C6B9E"/>
                </a:solidFill>
                <a:latin typeface="Calibri" pitchFamily="34" charset="0"/>
                <a:ea typeface="Calibri" pitchFamily="34" charset="-122"/>
                <a:cs typeface="Calibri" pitchFamily="34" charset="-120"/>
              </a:rPr>
              <a:t>Add, update, and search resident and flat records</a:t>
            </a:r>
            <a:endParaRPr lang="en-US" sz="1150" dirty="0"/>
          </a:p>
        </p:txBody>
      </p:sp>
      <p:sp>
        <p:nvSpPr>
          <p:cNvPr id="21" name="Shape 19"/>
          <p:cNvSpPr/>
          <p:nvPr/>
        </p:nvSpPr>
        <p:spPr>
          <a:xfrm>
            <a:off x="8275320" y="1600200"/>
            <a:ext cx="3520440" cy="2057400"/>
          </a:xfrm>
          <a:prstGeom prst="roundRect">
            <a:avLst>
              <a:gd name="adj" fmla="val 3556"/>
            </a:avLst>
          </a:prstGeom>
          <a:solidFill>
            <a:srgbClr val="F4F6FC"/>
          </a:solidFill>
          <a:ln/>
        </p:spPr>
      </p:sp>
      <p:sp>
        <p:nvSpPr>
          <p:cNvPr id="22" name="Shape 20"/>
          <p:cNvSpPr/>
          <p:nvPr/>
        </p:nvSpPr>
        <p:spPr>
          <a:xfrm>
            <a:off x="8503920" y="1828800"/>
            <a:ext cx="411480" cy="411480"/>
          </a:xfrm>
          <a:prstGeom prst="ellipse">
            <a:avLst/>
          </a:prstGeom>
          <a:solidFill>
            <a:srgbClr val="F9A826"/>
          </a:solidFill>
          <a:ln/>
        </p:spPr>
      </p:sp>
      <p:sp>
        <p:nvSpPr>
          <p:cNvPr id="23" name="Text 21"/>
          <p:cNvSpPr txBox="1"/>
          <p:nvPr/>
        </p:nvSpPr>
        <p:spPr>
          <a:xfrm>
            <a:off x="8503920" y="1828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Text 22"/>
          <p:cNvSpPr txBox="1"/>
          <p:nvPr/>
        </p:nvSpPr>
        <p:spPr>
          <a:xfrm>
            <a:off x="8503920" y="2377440"/>
            <a:ext cx="30632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Billing Engine</a:t>
            </a:r>
            <a:endParaRPr lang="en-US" sz="1450" dirty="0"/>
          </a:p>
        </p:txBody>
      </p:sp>
      <p:sp>
        <p:nvSpPr>
          <p:cNvPr id="25" name="Text 23"/>
          <p:cNvSpPr txBox="1"/>
          <p:nvPr/>
        </p:nvSpPr>
        <p:spPr>
          <a:xfrm>
            <a:off x="8503920" y="2770632"/>
            <a:ext cx="3063240" cy="777240"/>
          </a:xfrm>
          <a:prstGeom prst="rect">
            <a:avLst/>
          </a:prstGeom>
          <a:noFill/>
          <a:ln/>
        </p:spPr>
        <p:txBody>
          <a:bodyPr wrap="square" lIns="0" tIns="0" rIns="0" bIns="0" rtlCol="0" anchor="ctr"/>
          <a:lstStyle/>
          <a:p>
            <a:pPr indent="0" marL="0">
              <a:lnSpc>
                <a:spcPct val="125000"/>
              </a:lnSpc>
              <a:buNone/>
            </a:pPr>
            <a:r>
              <a:rPr lang="en-US" sz="1150" dirty="0">
                <a:solidFill>
                  <a:srgbClr val="5C6B9E"/>
                </a:solidFill>
                <a:latin typeface="Calibri" pitchFamily="34" charset="0"/>
                <a:ea typeface="Calibri" pitchFamily="34" charset="-122"/>
                <a:cs typeface="Calibri" pitchFamily="34" charset="-120"/>
              </a:rPr>
              <a:t>Auto-generate monthly maintenance bills per flat</a:t>
            </a:r>
            <a:endParaRPr lang="en-US" sz="1150" dirty="0"/>
          </a:p>
        </p:txBody>
      </p:sp>
      <p:sp>
        <p:nvSpPr>
          <p:cNvPr id="26" name="Shape 24"/>
          <p:cNvSpPr/>
          <p:nvPr/>
        </p:nvSpPr>
        <p:spPr>
          <a:xfrm>
            <a:off x="4526280" y="3886200"/>
            <a:ext cx="3520440" cy="2057400"/>
          </a:xfrm>
          <a:prstGeom prst="roundRect">
            <a:avLst>
              <a:gd name="adj" fmla="val 3556"/>
            </a:avLst>
          </a:prstGeom>
          <a:solidFill>
            <a:srgbClr val="F4F6FC"/>
          </a:solidFill>
          <a:ln/>
        </p:spPr>
      </p:sp>
      <p:sp>
        <p:nvSpPr>
          <p:cNvPr id="27" name="Shape 25"/>
          <p:cNvSpPr/>
          <p:nvPr/>
        </p:nvSpPr>
        <p:spPr>
          <a:xfrm>
            <a:off x="4754880" y="4114800"/>
            <a:ext cx="411480" cy="411480"/>
          </a:xfrm>
          <a:prstGeom prst="ellipse">
            <a:avLst/>
          </a:prstGeom>
          <a:solidFill>
            <a:srgbClr val="F9A826"/>
          </a:solidFill>
          <a:ln/>
        </p:spPr>
      </p:sp>
      <p:sp>
        <p:nvSpPr>
          <p:cNvPr id="28" name="Text 26"/>
          <p:cNvSpPr txBox="1"/>
          <p:nvPr/>
        </p:nvSpPr>
        <p:spPr>
          <a:xfrm>
            <a:off x="4754880" y="4114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9" name="Text 27"/>
          <p:cNvSpPr txBox="1"/>
          <p:nvPr/>
        </p:nvSpPr>
        <p:spPr>
          <a:xfrm>
            <a:off x="4754880" y="4663440"/>
            <a:ext cx="30632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Payment Tracking</a:t>
            </a:r>
            <a:endParaRPr lang="en-US" sz="1450" dirty="0"/>
          </a:p>
        </p:txBody>
      </p:sp>
      <p:sp>
        <p:nvSpPr>
          <p:cNvPr id="30" name="Text 28"/>
          <p:cNvSpPr txBox="1"/>
          <p:nvPr/>
        </p:nvSpPr>
        <p:spPr>
          <a:xfrm>
            <a:off x="4754880" y="5056632"/>
            <a:ext cx="3063240" cy="777240"/>
          </a:xfrm>
          <a:prstGeom prst="rect">
            <a:avLst/>
          </a:prstGeom>
          <a:noFill/>
          <a:ln/>
        </p:spPr>
        <p:txBody>
          <a:bodyPr wrap="square" lIns="0" tIns="0" rIns="0" bIns="0" rtlCol="0" anchor="ctr"/>
          <a:lstStyle/>
          <a:p>
            <a:pPr indent="0" marL="0">
              <a:lnSpc>
                <a:spcPct val="125000"/>
              </a:lnSpc>
              <a:buNone/>
            </a:pPr>
            <a:r>
              <a:rPr lang="en-US" sz="1150" dirty="0">
                <a:solidFill>
                  <a:srgbClr val="5C6B9E"/>
                </a:solidFill>
                <a:latin typeface="Calibri" pitchFamily="34" charset="0"/>
                <a:ea typeface="Calibri" pitchFamily="34" charset="-122"/>
                <a:cs typeface="Calibri" pitchFamily="34" charset="-120"/>
              </a:rPr>
              <a:t>Record payments, calculate dues and late fees</a:t>
            </a:r>
            <a:endParaRPr lang="en-US" sz="1150" dirty="0"/>
          </a:p>
        </p:txBody>
      </p:sp>
      <p:sp>
        <p:nvSpPr>
          <p:cNvPr id="31" name="Shape 29"/>
          <p:cNvSpPr/>
          <p:nvPr/>
        </p:nvSpPr>
        <p:spPr>
          <a:xfrm>
            <a:off x="8275320" y="3886200"/>
            <a:ext cx="3520440" cy="2057400"/>
          </a:xfrm>
          <a:prstGeom prst="roundRect">
            <a:avLst>
              <a:gd name="adj" fmla="val 3556"/>
            </a:avLst>
          </a:prstGeom>
          <a:solidFill>
            <a:srgbClr val="F4F6FC"/>
          </a:solidFill>
          <a:ln/>
        </p:spPr>
      </p:sp>
      <p:sp>
        <p:nvSpPr>
          <p:cNvPr id="32" name="Shape 30"/>
          <p:cNvSpPr/>
          <p:nvPr/>
        </p:nvSpPr>
        <p:spPr>
          <a:xfrm>
            <a:off x="8503920" y="4114800"/>
            <a:ext cx="411480" cy="411480"/>
          </a:xfrm>
          <a:prstGeom prst="ellipse">
            <a:avLst/>
          </a:prstGeom>
          <a:solidFill>
            <a:srgbClr val="F9A826"/>
          </a:solidFill>
          <a:ln/>
        </p:spPr>
      </p:sp>
      <p:sp>
        <p:nvSpPr>
          <p:cNvPr id="33" name="Text 31"/>
          <p:cNvSpPr txBox="1"/>
          <p:nvPr/>
        </p:nvSpPr>
        <p:spPr>
          <a:xfrm>
            <a:off x="8503920" y="4114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4" name="Text 32"/>
          <p:cNvSpPr txBox="1"/>
          <p:nvPr/>
        </p:nvSpPr>
        <p:spPr>
          <a:xfrm>
            <a:off x="8503920" y="4663440"/>
            <a:ext cx="30632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Complaint Portal</a:t>
            </a:r>
            <a:endParaRPr lang="en-US" sz="1450" dirty="0"/>
          </a:p>
        </p:txBody>
      </p:sp>
      <p:sp>
        <p:nvSpPr>
          <p:cNvPr id="35" name="Text 33"/>
          <p:cNvSpPr txBox="1"/>
          <p:nvPr/>
        </p:nvSpPr>
        <p:spPr>
          <a:xfrm>
            <a:off x="8503920" y="5056632"/>
            <a:ext cx="3063240" cy="777240"/>
          </a:xfrm>
          <a:prstGeom prst="rect">
            <a:avLst/>
          </a:prstGeom>
          <a:noFill/>
          <a:ln/>
        </p:spPr>
        <p:txBody>
          <a:bodyPr wrap="square" lIns="0" tIns="0" rIns="0" bIns="0" rtlCol="0" anchor="ctr"/>
          <a:lstStyle/>
          <a:p>
            <a:pPr indent="0" marL="0">
              <a:lnSpc>
                <a:spcPct val="125000"/>
              </a:lnSpc>
              <a:buNone/>
            </a:pPr>
            <a:r>
              <a:rPr lang="en-US" sz="1150" dirty="0">
                <a:solidFill>
                  <a:srgbClr val="5C6B9E"/>
                </a:solidFill>
                <a:latin typeface="Calibri" pitchFamily="34" charset="0"/>
                <a:ea typeface="Calibri" pitchFamily="34" charset="-122"/>
                <a:cs typeface="Calibri" pitchFamily="34" charset="-120"/>
              </a:rPr>
              <a:t>Residents raise issues; admin tracks status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1371600"/>
            <a:ext cx="3474720" cy="3474720"/>
          </a:xfrm>
          <a:prstGeom prst="ellipse">
            <a:avLst/>
          </a:prstGeom>
          <a:solidFill>
            <a:srgbClr val="27317A"/>
          </a:solidFill>
          <a:ln/>
        </p:spPr>
      </p:sp>
      <p:sp>
        <p:nvSpPr>
          <p:cNvPr id="3" name="Shape 1"/>
          <p:cNvSpPr/>
          <p:nvPr/>
        </p:nvSpPr>
        <p:spPr>
          <a:xfrm>
            <a:off x="10607040" y="4754880"/>
            <a:ext cx="2926080" cy="2926080"/>
          </a:xfrm>
          <a:prstGeom prst="ellipse">
            <a:avLst/>
          </a:prstGeom>
          <a:solidFill>
            <a:srgbClr val="27317A"/>
          </a:solidFill>
          <a:ln/>
        </p:spPr>
      </p:sp>
      <p:sp>
        <p:nvSpPr>
          <p:cNvPr id="4" name="Text 2"/>
          <p:cNvSpPr txBox="1"/>
          <p:nvPr/>
        </p:nvSpPr>
        <p:spPr>
          <a:xfrm>
            <a:off x="640080" y="50292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5" name="Text 3"/>
          <p:cNvSpPr txBox="1"/>
          <p:nvPr/>
        </p:nvSpPr>
        <p:spPr>
          <a:xfrm>
            <a:off x="640080" y="1234440"/>
            <a:ext cx="10515600" cy="1005840"/>
          </a:xfrm>
          <a:prstGeom prst="rect">
            <a:avLst/>
          </a:prstGeom>
          <a:noFill/>
          <a:ln/>
        </p:spPr>
        <p:txBody>
          <a:bodyPr wrap="square" lIns="0" tIns="0" rIns="0" bIns="0" rtlCol="0" anchor="ctr"/>
          <a:lstStyle/>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The proposed system replaces manual registers with a normalized relational database that centralizes resident data, automates maintenance billing, and gives society administrators real-time visibility into dues, payments, and complaints.</a:t>
            </a:r>
            <a:endParaRPr lang="en-US" sz="1450" dirty="0"/>
          </a:p>
        </p:txBody>
      </p:sp>
      <p:sp>
        <p:nvSpPr>
          <p:cNvPr id="6" name="Text 4"/>
          <p:cNvSpPr txBox="1"/>
          <p:nvPr/>
        </p:nvSpPr>
        <p:spPr>
          <a:xfrm>
            <a:off x="640080" y="2468880"/>
            <a:ext cx="4572000" cy="365760"/>
          </a:xfrm>
          <a:prstGeom prst="rect">
            <a:avLst/>
          </a:prstGeom>
          <a:noFill/>
          <a:ln/>
        </p:spPr>
        <p:txBody>
          <a:bodyPr wrap="square" lIns="0" tIns="0" rIns="0" bIns="0" rtlCol="0" anchor="ctr"/>
          <a:lstStyle/>
          <a:p>
            <a:pPr indent="0" marL="0">
              <a:buNone/>
            </a:pPr>
            <a:r>
              <a:rPr lang="en-US" sz="1800" b="1" dirty="0">
                <a:solidFill>
                  <a:srgbClr val="F9A826"/>
                </a:solidFill>
                <a:latin typeface="Cambria" pitchFamily="34" charset="0"/>
                <a:ea typeface="Cambria" pitchFamily="34" charset="-122"/>
                <a:cs typeface="Cambria" pitchFamily="34" charset="-120"/>
              </a:rPr>
              <a:t>Future Scope</a:t>
            </a:r>
            <a:endParaRPr lang="en-US" sz="1800" dirty="0"/>
          </a:p>
        </p:txBody>
      </p:sp>
      <p:sp>
        <p:nvSpPr>
          <p:cNvPr id="7" name="Shape 5"/>
          <p:cNvSpPr/>
          <p:nvPr/>
        </p:nvSpPr>
        <p:spPr>
          <a:xfrm>
            <a:off x="640080" y="2980944"/>
            <a:ext cx="128016" cy="128016"/>
          </a:xfrm>
          <a:prstGeom prst="ellipse">
            <a:avLst/>
          </a:prstGeom>
          <a:solidFill>
            <a:srgbClr val="F9A826"/>
          </a:solidFill>
          <a:ln/>
        </p:spPr>
      </p:sp>
      <p:sp>
        <p:nvSpPr>
          <p:cNvPr id="8" name="Text 6"/>
          <p:cNvSpPr txBox="1"/>
          <p:nvPr/>
        </p:nvSpPr>
        <p:spPr>
          <a:xfrm>
            <a:off x="960120" y="2852928"/>
            <a:ext cx="98755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Mobile app for residents to view bills and pay online</a:t>
            </a:r>
            <a:endParaRPr lang="en-US" sz="1350" dirty="0"/>
          </a:p>
        </p:txBody>
      </p:sp>
      <p:sp>
        <p:nvSpPr>
          <p:cNvPr id="9" name="Shape 7"/>
          <p:cNvSpPr/>
          <p:nvPr/>
        </p:nvSpPr>
        <p:spPr>
          <a:xfrm>
            <a:off x="640080" y="3483864"/>
            <a:ext cx="128016" cy="128016"/>
          </a:xfrm>
          <a:prstGeom prst="ellipse">
            <a:avLst/>
          </a:prstGeom>
          <a:solidFill>
            <a:srgbClr val="F9A826"/>
          </a:solidFill>
          <a:ln/>
        </p:spPr>
      </p:sp>
      <p:sp>
        <p:nvSpPr>
          <p:cNvPr id="10" name="Text 8"/>
          <p:cNvSpPr txBox="1"/>
          <p:nvPr/>
        </p:nvSpPr>
        <p:spPr>
          <a:xfrm>
            <a:off x="960120" y="3355848"/>
            <a:ext cx="98755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Integration with payment gateways (UPI, cards, net banking)</a:t>
            </a:r>
            <a:endParaRPr lang="en-US" sz="1350" dirty="0"/>
          </a:p>
        </p:txBody>
      </p:sp>
      <p:sp>
        <p:nvSpPr>
          <p:cNvPr id="11" name="Shape 9"/>
          <p:cNvSpPr/>
          <p:nvPr/>
        </p:nvSpPr>
        <p:spPr>
          <a:xfrm>
            <a:off x="640080" y="3986784"/>
            <a:ext cx="128016" cy="128016"/>
          </a:xfrm>
          <a:prstGeom prst="ellipse">
            <a:avLst/>
          </a:prstGeom>
          <a:solidFill>
            <a:srgbClr val="F9A826"/>
          </a:solidFill>
          <a:ln/>
        </p:spPr>
      </p:sp>
      <p:sp>
        <p:nvSpPr>
          <p:cNvPr id="12" name="Text 10"/>
          <p:cNvSpPr txBox="1"/>
          <p:nvPr/>
        </p:nvSpPr>
        <p:spPr>
          <a:xfrm>
            <a:off x="960120" y="3858768"/>
            <a:ext cx="98755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SMS/email reminders for pending dues</a:t>
            </a:r>
            <a:endParaRPr lang="en-US" sz="1350" dirty="0"/>
          </a:p>
        </p:txBody>
      </p:sp>
      <p:sp>
        <p:nvSpPr>
          <p:cNvPr id="13" name="Shape 11"/>
          <p:cNvSpPr/>
          <p:nvPr/>
        </p:nvSpPr>
        <p:spPr>
          <a:xfrm>
            <a:off x="640080" y="4489704"/>
            <a:ext cx="128016" cy="128016"/>
          </a:xfrm>
          <a:prstGeom prst="ellipse">
            <a:avLst/>
          </a:prstGeom>
          <a:solidFill>
            <a:srgbClr val="F9A826"/>
          </a:solidFill>
          <a:ln/>
        </p:spPr>
      </p:sp>
      <p:sp>
        <p:nvSpPr>
          <p:cNvPr id="14" name="Text 12"/>
          <p:cNvSpPr txBox="1"/>
          <p:nvPr/>
        </p:nvSpPr>
        <p:spPr>
          <a:xfrm>
            <a:off x="960120" y="4361688"/>
            <a:ext cx="98755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Analytics dashboard for collection trends and defaulters</a:t>
            </a:r>
            <a:endParaRPr lang="en-US" sz="1350" dirty="0"/>
          </a:p>
        </p:txBody>
      </p:sp>
      <p:sp>
        <p:nvSpPr>
          <p:cNvPr id="15" name="Shape 13"/>
          <p:cNvSpPr/>
          <p:nvPr/>
        </p:nvSpPr>
        <p:spPr>
          <a:xfrm>
            <a:off x="640080" y="5989320"/>
            <a:ext cx="1280160" cy="0"/>
          </a:xfrm>
          <a:prstGeom prst="line">
            <a:avLst/>
          </a:prstGeom>
          <a:noFill/>
          <a:ln w="38100">
            <a:solidFill>
              <a:srgbClr val="F9A826"/>
            </a:solidFill>
            <a:prstDash val="solid"/>
          </a:ln>
        </p:spPr>
      </p:sp>
      <p:sp>
        <p:nvSpPr>
          <p:cNvPr id="16" name="Text 14"/>
          <p:cNvSpPr txBox="1"/>
          <p:nvPr/>
        </p:nvSpPr>
        <p:spPr>
          <a:xfrm>
            <a:off x="640080" y="6126480"/>
            <a:ext cx="548640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2026-08-26T06:52:50Z</dcterms:created>
  <dcterms:modified xsi:type="dcterms:W3CDTF">2026-08-26T06:52:50Z</dcterms:modified>
</cp:coreProperties>
</file>